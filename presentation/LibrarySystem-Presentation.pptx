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0"/>
            <a:ext cx="2286000" cy="2286000"/>
          </a:xfrm>
          <a:prstGeom prst="ellipse">
            <a:avLst/>
          </a:prstGeom>
          <a:solidFill>
            <a:srgbClr val="1E4F82">
              <a:alpha val="30000"/>
            </a:srgbClr>
          </a:solidFill>
          <a:ln w="12700">
            <a:solidFill>
              <a:srgbClr val="1E4F8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System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University Library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828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Üsküdar University  ·  Full-Stack  ·  Node.js Monorepo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 ·  Next.js 14  ·  PostgreSQL  ·  Prisma  ·  OpenRouter AI  ·  Docker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PROJECT 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Library System?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Node.js monorepo built for Üsküdar University, covering every aspect of modern library management — from catalog browsing and physical borrowing to AI-powered study assistance.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47548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423160"/>
            <a:ext cx="10972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78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· Prisma ORM · PostgreSQL · JWT Auth · Swagger · S3 · AI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227832"/>
            <a:ext cx="47548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227832"/>
            <a:ext cx="10972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82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React 18 · Tailwind CSS · SWR · Framer Motion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389888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1444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577840" y="2029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42048" y="1389888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42048" y="1444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242048" y="2029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596896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26517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577840" y="32369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2596896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42048" y="26517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242048" y="32369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803904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38587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5577840" y="444398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42048" y="3803904"/>
            <a:ext cx="1481328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42048" y="385876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242048" y="444398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37360"/>
            <a:ext cx="1371600" cy="86868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91640" y="2153412"/>
            <a:ext cx="6217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2084832"/>
            <a:ext cx="1097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737360"/>
            <a:ext cx="1737360" cy="868680"/>
          </a:xfrm>
          <a:prstGeom prst="rect">
            <a:avLst/>
          </a:prstGeom>
          <a:solidFill>
            <a:srgbClr val="1E4F8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633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/api/* → 3001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60520" y="2153412"/>
            <a:ext cx="576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084832"/>
            <a:ext cx="1097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508760"/>
            <a:ext cx="1874520" cy="1280160"/>
          </a:xfrm>
          <a:prstGeom prst="rect">
            <a:avLst/>
          </a:prstGeom>
          <a:solidFill>
            <a:srgbClr val="0891B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600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Modules · Prisma · JWT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5292" y="2788920"/>
            <a:ext cx="457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96712" y="3291840"/>
            <a:ext cx="1828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383280"/>
            <a:ext cx="1874520" cy="777240"/>
          </a:xfrm>
          <a:prstGeom prst="rect">
            <a:avLst/>
          </a:prstGeom>
          <a:solidFill>
            <a:srgbClr val="1A3A5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474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840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 · Prisma ORM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1508760"/>
            <a:ext cx="1783080" cy="777240"/>
          </a:xfrm>
          <a:prstGeom prst="rect">
            <a:avLst/>
          </a:prstGeom>
          <a:solidFill>
            <a:srgbClr val="7C3AE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1536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OpenRouter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1874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</a:rPr>
              <a:t>Gemma · Gemini · Claude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1879092"/>
            <a:ext cx="1828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1810512"/>
            <a:ext cx="1097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2487168"/>
            <a:ext cx="1783080" cy="713232"/>
          </a:xfrm>
          <a:prstGeom prst="rect">
            <a:avLst/>
          </a:prstGeom>
          <a:solidFill>
            <a:srgbClr val="B45309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95160" y="2523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 / Local Storage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28346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F3C7"/>
                </a:solidFill>
              </a:rPr>
              <a:t>Files · PDFs · Covers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2843784"/>
            <a:ext cx="2743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320040" y="4617720"/>
            <a:ext cx="201168" cy="109728"/>
          </a:xfrm>
          <a:prstGeom prst="rect">
            <a:avLst/>
          </a:prstGeom>
          <a:solidFill>
            <a:srgbClr val="1E4F82"/>
          </a:solidFill>
          <a:ln w="12700">
            <a:solidFill>
              <a:srgbClr val="1E4F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599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Frontend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4617720"/>
            <a:ext cx="20116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4599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Backend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17720"/>
            <a:ext cx="20116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4599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AI Provider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ROLES &amp; AUTHENTICATION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System &amp; Auth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1965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369A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196596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Borrow · Reserve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· AI Assistant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Lists · Notifications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8880" y="1389888"/>
            <a:ext cx="1965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89888"/>
            <a:ext cx="196596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features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Materials for Approval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Reading Lists · Followers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389888"/>
            <a:ext cx="1965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6B4C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389888"/>
            <a:ext cx="1965960" cy="438912"/>
          </a:xfrm>
          <a:prstGeom prst="rect">
            <a:avLst/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Borrows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· AI Assistant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Notifications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1389888"/>
            <a:ext cx="1965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2D1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389888"/>
            <a:ext cx="1965960" cy="43891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898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Policies · Reports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· AI Cover Scan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8503920" cy="658368"/>
          </a:xfrm>
          <a:prstGeom prst="rect">
            <a:avLst/>
          </a:prstGeom>
          <a:solidFill>
            <a:srgbClr val="1A3A5C"/>
          </a:solidFill>
          <a:ln w="1524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Authentication: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5661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+ Email Verification  ·  Google OAuth (optional)  ·  HttpOnly JWT Cookie  ·  Role-gated middleware (frontend + backend guards)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USER EXPERIENCE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Journeys by Role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105156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68296" y="1540764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24" y="1472184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540764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1472184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81144" y="1540764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90872" y="1472184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5888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87568" y="1540764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7296" y="1472184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Copy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93992" y="1540764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472184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8736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8736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Borrow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95160" y="1389888"/>
            <a:ext cx="868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Fine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18288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Assistant is available throughout all student journeys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487168"/>
            <a:ext cx="10515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487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Instructor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68296" y="2656332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78024" y="2587752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2505456"/>
            <a:ext cx="868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2656332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84448" y="2587752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9464" y="2505456"/>
            <a:ext cx="868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9464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Material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81144" y="2656332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872" y="2587752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75888" y="2505456"/>
            <a:ext cx="868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Approval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87568" y="2656332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97296" y="2587752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2312" y="2505456"/>
            <a:ext cx="868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Reading List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88736" y="2505456"/>
            <a:ext cx="8686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88736" y="25054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Followers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3602736"/>
            <a:ext cx="1051560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602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68296" y="3771900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8024" y="3703320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63040" y="3621024"/>
            <a:ext cx="868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63040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0" y="3771900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84448" y="3703320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69464" y="3621024"/>
            <a:ext cx="868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9464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81144" y="3771900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90872" y="3703320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75888" y="3621024"/>
            <a:ext cx="868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75888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Materials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87568" y="3771900"/>
            <a:ext cx="146304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97296" y="3703320"/>
            <a:ext cx="9144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82312" y="3621024"/>
            <a:ext cx="868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82312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Borrows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888736" y="3621024"/>
            <a:ext cx="868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88736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shared access to catalog, borrows, reservations, AI assistant, notifications, and settings via role-gated middleware.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UI &amp; UX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Interface — Key Surfaces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79392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 / 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/login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9464" y="18653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/signup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/verify-email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9464" y="2212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/forgot-password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/reset-password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82312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82312" y="1389888"/>
            <a:ext cx="4279392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192" y="18653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/dashboard/catalog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31736" y="18653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/dashboard/borrowed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65192" y="2212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/dashboard/reservations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31736" y="2212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/dashboard/fines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65192" y="2560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/dashboard/history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31736" y="2560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/dashboard/ai-assistant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91256"/>
            <a:ext cx="4279392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Instructor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6667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/instructor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9464" y="36667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/instructor/submit-material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0142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/instructor/reading-lists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9464" y="40142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/instructor/my-submissions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361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/instructor/following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82312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3191256"/>
            <a:ext cx="4279392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36667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/admin/books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31736" y="36667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/admin/users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65192" y="40142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/admin/borrows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31736" y="40142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/admin/reservations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65192" y="4361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/admin/reports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31736" y="43616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/admin/statistics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CORE FEATURES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Library Operations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0624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35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</a:rPr>
              <a:t>Reservation Lifecycle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19656"/>
            <a:ext cx="69494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PENDING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71016" y="1819656"/>
            <a:ext cx="694944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181965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APPROVED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39112" y="1819656"/>
            <a:ext cx="694944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81965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READY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07208" y="1819656"/>
            <a:ext cx="694944" cy="274320"/>
          </a:xfrm>
          <a:prstGeom prst="rect">
            <a:avLst/>
          </a:prstGeom>
          <a:solidFill>
            <a:srgbClr val="12253A"/>
          </a:solidFill>
          <a:ln w="12700">
            <a:solidFill>
              <a:srgbClr val="122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81965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COLLECTED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75304" y="1819656"/>
            <a:ext cx="69494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181965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CANCELLED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2176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partial index prevents duplicate active reservations per user/book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auto-expires reservations and marks overdue borrows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389888"/>
            <a:ext cx="4160520" cy="153619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435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</a:rPr>
              <a:t>Borrow Lifecycle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1819656"/>
            <a:ext cx="1078992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196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8192" y="1819656"/>
            <a:ext cx="107899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18196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OVERDUE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70064" y="1819656"/>
            <a:ext cx="107899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0064" y="18196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RETURNED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1762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policies configurable per role (max active, days, extensions)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return → pending fine record created automatically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090672"/>
            <a:ext cx="420624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136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</a:rPr>
              <a:t>Fines &amp; Notifications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" y="3529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 states: PENDING · PAID · WAIVED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3803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Unread notification badge counts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40782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Types: reservation, borrow, list, system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4352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/ delete / clear-read operations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160520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136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53A"/>
                </a:solidFill>
              </a:rPr>
              <a:t>Catalog &amp; Books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846320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Metadata, ISBN, authors, cover images, tags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46320" y="3803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E-book &amp; PDF URLs, max 50 copies/branch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Faculty, category, subject classification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4352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import: OpenLibrary, Gutendex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AI ASSISTANT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Library Assistant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OpenRouter  ·  Streaming SSE  ·  Tool Calling  ·  Study Sessions  ·  5 Response Modes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E6FD"/>
                </a:solidFill>
              </a:rPr>
              <a:t>Model Tiers (Auto-Selected)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249424"/>
            <a:ext cx="804672" cy="4389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494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43584" y="2249424"/>
            <a:ext cx="5349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2494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google/gemma-4-31b-it:free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224942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greetings, short Q&amp;A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07208"/>
            <a:ext cx="80467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0720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43584" y="2807208"/>
            <a:ext cx="5349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28072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google/gemini-3.1-flash-lite-preview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8072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catalog queries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80467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6499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43584" y="3364992"/>
            <a:ext cx="5349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33649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anthropic/claude-3-haiku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0" y="33649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reasoning &amp; analysis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922776"/>
            <a:ext cx="804672" cy="43891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2277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43584" y="3922776"/>
            <a:ext cx="5349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39227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anthropic/claude-3-haiku (same as SMART)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0" y="39227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 guide generation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E6FD"/>
                </a:solidFill>
              </a:rPr>
              <a:t>Key Capabilities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22494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SSE Streaming chat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542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Auto + manual model select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5 response modes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15 callable tools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Book PDF reading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7124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Study sessions (per book)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4005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Conversation history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42976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Admin cover scan (vision)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5902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Rate limit: 15 req / 60s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AI ASSISTANT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&amp; Response Modes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26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search_catalog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across the library catalog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26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get_book_details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4992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 and availability for a book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1389888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89888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426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read_ebook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45352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e-book or PDF for summaries/quotes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956816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56816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fetch_webpage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22311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any public URL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956816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956816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get_my_borrows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22311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borrows and due dates for the user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1956816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956816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get_catalog_stats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5352" y="22311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book, copy, and e-book counts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523744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523744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get_active_borrows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borrows + top 5 most borrowed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2523744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523744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get_active_reservations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reservations (pending/ready)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2523744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2523744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get_user_stats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45352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 counts by role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090672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3090672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get_reading_lists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" y="3364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instructor reading lists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3090672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0" y="3090672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get_my_reading_lists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64992" y="3364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Instructor's own lists including drafts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0760" y="3090672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80760" y="3090672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search_study_material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45352" y="3364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material chunks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3657600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3657600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" y="3694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list_study_materials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indexed study materials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0" y="3657600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200400" y="3657600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64992" y="3694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get_chunk_context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64992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chunks around a material chunk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3657600"/>
            <a:ext cx="26974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080760" y="3657600"/>
            <a:ext cx="914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45352" y="36941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get_material_outline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45352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chunks of a study material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" y="4096512"/>
            <a:ext cx="85039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13308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E6FD"/>
                </a:solidFill>
              </a:rPr>
              <a:t>Response Modes: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029968" y="4151376"/>
            <a:ext cx="1170432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29968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learning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337560" y="4151376"/>
            <a:ext cx="117043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37560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explanatory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45152" y="4151376"/>
            <a:ext cx="117043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45152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planning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952744" y="4151376"/>
            <a:ext cx="1170432" cy="2743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52744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formal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260336" y="4151376"/>
            <a:ext cx="1170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60336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concise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INSTRUCTOR FEATURES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&amp; Research Materials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06240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06240" cy="42062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Reading Lists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Create, edit, delete reading lists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visibility (public/private) and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books with per-item ordering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feed for all authenticated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moderation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any instructor's published lists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Follow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98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Follow/unfollow instructors · follower counts · following feed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4160520" cy="34564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89888"/>
            <a:ext cx="4160520" cy="420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898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Research Materials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800600" y="1901952"/>
            <a:ext cx="1810512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39128" y="1901952"/>
            <a:ext cx="1810512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1810512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860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39128" y="2286000"/>
            <a:ext cx="1810512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22860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Publications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53A"/>
                </a:solidFill>
              </a:rPr>
              <a:t>Indexing Pipeline: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127248"/>
            <a:ext cx="71323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Upload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13832" y="3236976"/>
            <a:ext cx="731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86984" y="3127248"/>
            <a:ext cx="71323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6984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Extract Text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00216" y="3236976"/>
            <a:ext cx="731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368" y="3127248"/>
            <a:ext cx="71323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Chunk ~400w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86600" y="3236976"/>
            <a:ext cx="731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9752" y="3127248"/>
            <a:ext cx="71323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9752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Index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872984" y="3236976"/>
            <a:ext cx="73152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46136" y="3127248"/>
            <a:ext cx="71323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46136" y="31272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FT Search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06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 &amp; publishing workflow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006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control: role, faculty, course, public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0060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reindex &amp; moderation dashboard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0060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tool: search_study_material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ADMIN FEATURES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 &amp; Capabilities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276148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898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1865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 / deactivate accounts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194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all roles and user stats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distribution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389888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389888"/>
            <a:ext cx="2761488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3898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Books &amp; Catalog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29000" y="1865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with copy management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194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indexing and reindex tools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cover image scan endpoint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1389888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389888"/>
            <a:ext cx="2761488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3898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Borrows &amp; Reservations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73368" y="186537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lifecycle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3368" y="2194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Most-borrowed and trend reports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73368" y="25237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 monitoring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08960"/>
            <a:ext cx="2761488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108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Fines &amp; Policies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" y="3584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 or waive fine records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" y="39136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Per-role borrow policy limits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" y="42428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Extension count and day rules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4408" y="3108960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3108960"/>
            <a:ext cx="2761488" cy="38404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3108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Materials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429000" y="3584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Approve/reject submissions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29000" y="39136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Moderation dashboard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29000" y="42428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Reindex pending file queue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08776" y="3108960"/>
            <a:ext cx="2761488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3108960"/>
            <a:ext cx="2761488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3108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Reports &amp; Stats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73368" y="3584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and Excel report export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73368" y="391363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statistics dashboard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73368" y="424281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usage metrics endpoint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535424"/>
            <a:ext cx="91440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544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branch management  ·  reading list moderation  ·  external book imports (OpenLibrary, Gutendex)  ·  pgAdmin at port 5050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REQUIREMENTS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79392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&amp;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authenticate before accessing /dashboard/*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routes are role-gated in frontend middleware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local users must verify email before login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Admins can activate and deactivate users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82312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82312" y="1389888"/>
            <a:ext cx="4279392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Catalog &amp; Copies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18470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Books may have multiple physical copies across branches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21031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Reservations scoped to user / book-copy / branch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5192" y="23591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unique index prevents duplicate active reservations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5192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Maximum 50 copies per branch enforced at API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91256"/>
            <a:ext cx="4279392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Borrow &amp; Fines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648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 policies limit active borrows, days, and extensions per role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04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Returning an overdue borrow creates a pending fine record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 reconciles overdue borrows and expired reservations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reset uses opaque tokens with generic outward messages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3191256"/>
            <a:ext cx="427939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Materials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3648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assistant must use tools for all live library data queries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65192" y="3904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Assistant must not guess or invent catalog or statistical values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65192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 have publication, approval state, and access-level controls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65192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validation strips and rejects non-whitelisted fields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REQUIREMENTS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79392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password hashing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HttpOnly JWT cookies — secure + sameSite in production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Helmet, CORS allowlist, global exception filter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 per endpoint · JWT secret ≥32 chars at startup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82312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82312" y="1389888"/>
            <a:ext cx="4279392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18470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 reconciles overdue borrows and reservations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21031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config validated at startup — exits if invalid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5192" y="23591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validation pipe: whitelist + forbidNonWhitelisted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5192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probes: /health/live and /health/ready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91256"/>
            <a:ext cx="4279392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648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Request-ID and request-logging on all routes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904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log level and SQL logging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metrics at /dashboard/admin/ai-metrics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 docs at /api/docs · pgAdmin at port 5050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82312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3191256"/>
            <a:ext cx="427939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Developer Ops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3648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across frontend and backend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65192" y="3904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dev targets for both apps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65192" y="4160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test suites (unit + e2e)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65192" y="44165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ESLint · Prettier · stylelint · Next.js standalone build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425696"/>
            <a:ext cx="850392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documented: formal uptime/latency targets · RPO/RTO · CI/CD pipeline · accessibility or browser support targets.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TECHNICAL STACK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&amp; Infrastructure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79392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Next.js 14 App Router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9464" y="18653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18 + TypeScript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Tailwind CSS + Framer Motion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9464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SWR — data fetching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Radix UI primitives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9464" y="25968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Axios + SSE streaming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82312" y="1389888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389888"/>
            <a:ext cx="4279392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18653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NestJS 10 + TypeScript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31736" y="18653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Prisma ORM 5 + PostgreSQL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(HS256) + Passport.js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31736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Swagger / OpenAPI docs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65192" y="25968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@nestjs/throttler rate limits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31736" y="25968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bcryptjs · Helmet · CORS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91256"/>
            <a:ext cx="427939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66674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OpenRouter (active provider)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9464" y="366674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Gemma · Gemini · Claude models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032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SSE streaming responses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9464" y="4032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full-text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S3 or local file 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9464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 + DOCX text extraction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82312" y="3191256"/>
            <a:ext cx="4279392" cy="166420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82312" y="3191256"/>
            <a:ext cx="4279392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191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5192" y="366674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 + Docker Compose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31736" y="366674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15 + pgAdmin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5192" y="4032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Node.js 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31736" y="40325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workspaces (monorepo)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65192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pdfkit + exceljs (reports)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31736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concurrently + wait-on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TESTING &amp; QUALITY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Testing, Linting &amp; Type Safety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206240" cy="384048"/>
          </a:xfrm>
          <a:prstGeom prst="rect">
            <a:avLst/>
          </a:prstGeom>
          <a:solidFill>
            <a:srgbClr val="12253A"/>
          </a:solidFill>
          <a:ln w="12700">
            <a:solidFill>
              <a:srgbClr val="122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E2E Test Suites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security.e2e-spec.ts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 — auth guards, rate limits, query validation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reservations.e2e-spec.ts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tests — full reservation lifecycle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borrows.e2e-spec.ts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 — extend, return, overdue fine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160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89888"/>
            <a:ext cx="41605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89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Unit Test Suites (11 files)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1865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users.service.spec · users.controller.spec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1214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books.service.spec · book-document.service.spec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377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reservations.service.spec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6334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borrow-scheduler.service.spec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895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ai.service.spec · catalog-search.service.spec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ai-modes.spec · material-access.util.spec · global-exception.filter.spec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53A"/>
                </a:solidFill>
              </a:rPr>
              <a:t>Verification Commands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" y="3822192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typecheck:api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TS strict check (API)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27448" y="3822192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typecheck:web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609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TS strict check (web)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" y="4169664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187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test:api:critical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0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critical files, fast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27448" y="4169664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4187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test:api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60920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unit suite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" y="4517136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535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test:api:e2e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08960" y="4535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E2E (needs running DB)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27448" y="4517136"/>
            <a:ext cx="40690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45354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apps/api &amp;&amp; npm run lint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4535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ESLint + Prettier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AE6FD"/>
                </a:solidFill>
              </a:rPr>
              <a:t>SETUP &amp; DEPLOYMENT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Docker, Local Setup &amp; Environment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11480" y="1225296"/>
            <a:ext cx="457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57200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572000" cy="384048"/>
          </a:xfrm>
          <a:prstGeom prst="rect">
            <a:avLst/>
          </a:prstGeom>
          <a:solidFill>
            <a:srgbClr val="12253A"/>
          </a:solidFill>
          <a:ln w="12700">
            <a:solidFill>
              <a:srgbClr val="122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Docker Compose 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9144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18562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:5432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12848" y="1856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postgres:15-alpine · external volume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276856"/>
            <a:ext cx="9144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2768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:3001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12848" y="22768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dev target · waits for postgres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9144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97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08760" y="269748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:3000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12848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dev target · waits for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18104"/>
            <a:ext cx="9144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18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pgadmin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311810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:5050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12848" y="31181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dpage/pgadmin4 · admin@uskudar.edu.tr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57200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785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53A"/>
                </a:solidFill>
              </a:rPr>
              <a:t>Quick Start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10565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docker volume create library-system_edit_postgres_data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27939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npm install  &amp;&amp;  npm run db:start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45312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npm run db:migrate  &amp;&amp;  npm run db:seed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62686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npm run dev  →  http://localhost:3000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1389888"/>
            <a:ext cx="3749040" cy="341071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74920" y="1389888"/>
            <a:ext cx="3749040" cy="384048"/>
          </a:xfrm>
          <a:prstGeom prst="rect">
            <a:avLst/>
          </a:prstGeom>
          <a:solidFill>
            <a:srgbClr val="1E4F82"/>
          </a:solidFill>
          <a:ln w="12700">
            <a:solidFill>
              <a:srgbClr val="1E4F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13898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Critical Environment Variables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212080" y="1856232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1856232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03720" y="1856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≥32 chars · same in API + web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2295144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2295144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OPENROUTER_API_KEY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03720" y="2295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all AI features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2080" y="2734056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0368" y="2734056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FRONTEND_URL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03720" y="27340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http://localhost:3000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3172968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172968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03720" y="3172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connection string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12080" y="3611880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3611880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03720" y="3611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frontend origins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12080" y="4050792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4050792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STORAGE_PROVIDER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03720" y="40507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(default) or s3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12080" y="4489704"/>
            <a:ext cx="16002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0368" y="4489704"/>
            <a:ext cx="156362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SMTP_HOST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03720" y="4489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→ tokens logged to console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754880" cy="4754880"/>
          </a:xfrm>
          <a:prstGeom prst="ellipse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1A3A5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560320" cy="2560320"/>
          </a:xfrm>
          <a:prstGeom prst="ellipse">
            <a:avLst/>
          </a:prstGeom>
          <a:solidFill>
            <a:srgbClr val="1E4F82">
              <a:alpha val="30000"/>
            </a:srgbClr>
          </a:solidFill>
          <a:ln w="12700">
            <a:solidFill>
              <a:srgbClr val="1E4F8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94360" y="2029968"/>
            <a:ext cx="21031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1284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17 slides  ·  Full-stack Node.js monorepo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735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NestJS API + Next.js 14 App Router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210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OpenRouter AI assistant with 15 callable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9684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user roles  ·  100+ API endpoints  ·  14 test suites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System — AI-Integrated University Platform</dc:title>
  <dc:subject>PptxGenJS Presentation</dc:subject>
  <dc:creator>PptxGenJS</dc:creator>
  <cp:lastModifiedBy>PptxGenJS</cp:lastModifiedBy>
  <cp:revision>1</cp:revision>
  <dcterms:created xsi:type="dcterms:W3CDTF">2026-05-12T01:14:19Z</dcterms:created>
  <dcterms:modified xsi:type="dcterms:W3CDTF">2026-05-12T01:14:19Z</dcterms:modified>
</cp:coreProperties>
</file>